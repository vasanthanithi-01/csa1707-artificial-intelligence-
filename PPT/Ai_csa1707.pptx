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notesMasterIdLst>
    <p:notesMasterId r:id="rId21"/>
  </p:notesMasterIdLst>
  <p:sldIdLst>
    <p:sldId id="256" r:id="rId2"/>
    <p:sldId id="257" r:id="rId3"/>
    <p:sldId id="277" r:id="rId4"/>
    <p:sldId id="259" r:id="rId5"/>
    <p:sldId id="258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75" r:id="rId17"/>
    <p:sldId id="276" r:id="rId18"/>
    <p:sldId id="288" r:id="rId19"/>
    <p:sldId id="271" r:id="rId20"/>
  </p:sldIdLst>
  <p:sldSz cx="9144000" cy="6858000" type="screen4x3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54" autoAdjust="0"/>
  </p:normalViewPr>
  <p:slideViewPr>
    <p:cSldViewPr snapToGrid="0">
      <p:cViewPr varScale="1">
        <p:scale>
          <a:sx n="97" d="100"/>
          <a:sy n="97" d="100"/>
        </p:scale>
        <p:origin x="1070" y="67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2" y="0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2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2" y="6513512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>
          <a:extLst>
            <a:ext uri="{FF2B5EF4-FFF2-40B4-BE49-F238E27FC236}">
              <a16:creationId xmlns:a16="http://schemas.microsoft.com/office/drawing/2014/main" id="{7C959BAA-EEED-E7A1-7AF6-4297C21BE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>
            <a:extLst>
              <a:ext uri="{FF2B5EF4-FFF2-40B4-BE49-F238E27FC236}">
                <a16:creationId xmlns:a16="http://schemas.microsoft.com/office/drawing/2014/main" id="{B8EDA6C8-DA3B-94B6-CB80-156EBD17B4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6AD8D9DE-BA0F-F10E-B422-A3E410247D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856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70" name="Google Shape;70;p4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" name="Google Shape;63;p3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BAF9EF0E-36D1-20AB-3D44-85D338870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>
            <a:extLst>
              <a:ext uri="{FF2B5EF4-FFF2-40B4-BE49-F238E27FC236}">
                <a16:creationId xmlns:a16="http://schemas.microsoft.com/office/drawing/2014/main" id="{D3162CC7-7B26-D782-B57F-C2B315A7DE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11C1377D-7952-B22C-16A1-59FA9A3159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94611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EF3DB0BA-F143-F9A6-8FB2-CF9CE48A7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>
            <a:extLst>
              <a:ext uri="{FF2B5EF4-FFF2-40B4-BE49-F238E27FC236}">
                <a16:creationId xmlns:a16="http://schemas.microsoft.com/office/drawing/2014/main" id="{F31714A5-77C7-D49A-0536-C8EC5126FB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2FACA801-80A6-D562-4966-DA9FA35BEB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2299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A06A405A-7681-680D-9731-4780A74DF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>
            <a:extLst>
              <a:ext uri="{FF2B5EF4-FFF2-40B4-BE49-F238E27FC236}">
                <a16:creationId xmlns:a16="http://schemas.microsoft.com/office/drawing/2014/main" id="{EA8B2805-A152-BC45-7591-DB5A8041D3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74552CC5-ACDD-262D-601D-5FCB55F4D5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30479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3AE4164F-F8C7-E6A4-20D1-BF4742788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>
            <a:extLst>
              <a:ext uri="{FF2B5EF4-FFF2-40B4-BE49-F238E27FC236}">
                <a16:creationId xmlns:a16="http://schemas.microsoft.com/office/drawing/2014/main" id="{F753DB9A-7830-1254-F605-38D5ECB256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B10C6774-22CD-3D66-81E2-46AC244FA5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28631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5E01D8BE-70E1-8D6C-1AE0-E7E86ADC7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>
            <a:extLst>
              <a:ext uri="{FF2B5EF4-FFF2-40B4-BE49-F238E27FC236}">
                <a16:creationId xmlns:a16="http://schemas.microsoft.com/office/drawing/2014/main" id="{626BDE22-B9C8-1AAE-EF64-2EE5B03107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BC7A7756-A6AE-12AB-C08A-5DAFDD583D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2657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66F9223E-190D-F001-9CF3-A34104EA0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>
            <a:extLst>
              <a:ext uri="{FF2B5EF4-FFF2-40B4-BE49-F238E27FC236}">
                <a16:creationId xmlns:a16="http://schemas.microsoft.com/office/drawing/2014/main" id="{2D305C47-944D-886A-ADF3-715701CA43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8A170CC7-2141-F013-6ACC-79ED006E13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1019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19795867-2D3E-0788-904F-77217434E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>
            <a:extLst>
              <a:ext uri="{FF2B5EF4-FFF2-40B4-BE49-F238E27FC236}">
                <a16:creationId xmlns:a16="http://schemas.microsoft.com/office/drawing/2014/main" id="{0A0F6BD3-B487-08FD-D4BB-8ED90D6FA9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E1932230-ABA5-73E9-221A-8AF570F081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22562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15A90A7C-EBAA-103E-323B-F5A87FB03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>
            <a:extLst>
              <a:ext uri="{FF2B5EF4-FFF2-40B4-BE49-F238E27FC236}">
                <a16:creationId xmlns:a16="http://schemas.microsoft.com/office/drawing/2014/main" id="{E5A38494-08A5-9716-5B16-B2E0A30F29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D36799FD-E7C2-B89D-CCB5-438B999082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07052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F7F61E6F-DEB9-ADB3-BC5A-204455025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>
            <a:extLst>
              <a:ext uri="{FF2B5EF4-FFF2-40B4-BE49-F238E27FC236}">
                <a16:creationId xmlns:a16="http://schemas.microsoft.com/office/drawing/2014/main" id="{2C3C4288-51C1-C888-2F76-E061A391A6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10DFE7E4-8A7E-8605-B00A-08196B9F2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92013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BC39DD1C-538E-6E2F-E4F2-EF6B1E21B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>
            <a:extLst>
              <a:ext uri="{FF2B5EF4-FFF2-40B4-BE49-F238E27FC236}">
                <a16:creationId xmlns:a16="http://schemas.microsoft.com/office/drawing/2014/main" id="{F9345D30-2750-5606-B1C4-A9DA0BA733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3F9B0DD2-A2EF-F9F1-D4B0-C8B4025457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98644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E1BF65A3-221F-A287-73F1-09F0FFE75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>
            <a:extLst>
              <a:ext uri="{FF2B5EF4-FFF2-40B4-BE49-F238E27FC236}">
                <a16:creationId xmlns:a16="http://schemas.microsoft.com/office/drawing/2014/main" id="{F9548C66-2EE7-067A-0B03-D6C62FCB9E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8FA14428-2C6A-BBBC-63C7-528C81B002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84009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7DA7D84B-A9E9-F6E2-0B5E-E03DFDA5B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>
            <a:extLst>
              <a:ext uri="{FF2B5EF4-FFF2-40B4-BE49-F238E27FC236}">
                <a16:creationId xmlns:a16="http://schemas.microsoft.com/office/drawing/2014/main" id="{0B6EF00E-32B7-205D-64FF-4932BED237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CCDD2DF1-4CED-438C-9C4D-34A01B2F57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40099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FEBAC184-218A-8BB7-89C6-E21B2C054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>
            <a:extLst>
              <a:ext uri="{FF2B5EF4-FFF2-40B4-BE49-F238E27FC236}">
                <a16:creationId xmlns:a16="http://schemas.microsoft.com/office/drawing/2014/main" id="{D2E943AB-926D-F5CC-DB77-B4B9C00BE6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EFD88DED-56BC-65C5-F8AC-07BBFE6AF1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89608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1628775" y="1327150"/>
            <a:ext cx="6184900" cy="877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1173162" y="2259012"/>
            <a:ext cx="6797675" cy="414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ftr" idx="11"/>
          </p:nvPr>
        </p:nvSpPr>
        <p:spPr>
          <a:xfrm>
            <a:off x="3108325" y="6378575"/>
            <a:ext cx="2927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457200" y="6378575"/>
            <a:ext cx="210343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301037" y="6481762"/>
            <a:ext cx="179387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985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985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985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985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6985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6985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6985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6985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6985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985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1628775" y="1327150"/>
            <a:ext cx="6184900" cy="877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3108325" y="6378575"/>
            <a:ext cx="2927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457200" y="6378575"/>
            <a:ext cx="210343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8301037" y="6481762"/>
            <a:ext cx="179387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985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985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985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985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6985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6985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6985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6985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6985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985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08325" y="6378575"/>
            <a:ext cx="2927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457200" y="6378575"/>
            <a:ext cx="210343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301037" y="6481762"/>
            <a:ext cx="179387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985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985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985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985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6985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6985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6985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6985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6985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985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1628775" y="1327150"/>
            <a:ext cx="6184900" cy="877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108325" y="6378575"/>
            <a:ext cx="2927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457200" y="6378575"/>
            <a:ext cx="210343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301037" y="6481762"/>
            <a:ext cx="179387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985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985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985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985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6985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6985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6985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6985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6985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985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3108325" y="6378575"/>
            <a:ext cx="2927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457200" y="6378575"/>
            <a:ext cx="210343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8301037" y="6481762"/>
            <a:ext cx="179387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985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985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985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985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6985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6985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6985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6985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6985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985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1628775" y="1327150"/>
            <a:ext cx="6184900" cy="877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1173162" y="2259012"/>
            <a:ext cx="6797675" cy="414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3108325" y="6378575"/>
            <a:ext cx="2927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457200" y="6378575"/>
            <a:ext cx="210343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301037" y="6481762"/>
            <a:ext cx="179387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98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985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6985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6985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6985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6985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6985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6985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6985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985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156035" y="998537"/>
            <a:ext cx="8605837" cy="3057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6475" rIns="0" bIns="0" anchor="t" anchorCtr="0">
            <a:spAutoFit/>
          </a:bodyPr>
          <a:lstStyle/>
          <a:p>
            <a:pPr marL="365125">
              <a:buClr>
                <a:srgbClr val="C00000"/>
              </a:buClr>
              <a:buSzPts val="2800"/>
            </a:pPr>
            <a:br>
              <a:rPr lang="en-US" sz="28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dirty="0"/>
              <a:t>An Intelligent AI Coding Mentor for Guided Programming Learning</a:t>
            </a:r>
            <a:br>
              <a:rPr lang="en-IN" dirty="0"/>
            </a:br>
            <a:br>
              <a:rPr lang="en-IN" dirty="0"/>
            </a:br>
            <a:r>
              <a:rPr lang="en-IN" dirty="0"/>
              <a:t>CAPSTONE PROJECT</a:t>
            </a:r>
            <a:br>
              <a:rPr lang="en-US" dirty="0"/>
            </a:br>
            <a:br>
              <a:rPr lang="en-US" sz="24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CSA1707-Artificial Intelligence</a:t>
            </a:r>
            <a:endParaRPr dirty="0"/>
          </a:p>
        </p:txBody>
      </p:sp>
      <p:sp>
        <p:nvSpPr>
          <p:cNvPr id="48" name="Google Shape;48;p7"/>
          <p:cNvSpPr txBox="1"/>
          <p:nvPr/>
        </p:nvSpPr>
        <p:spPr>
          <a:xfrm>
            <a:off x="293687" y="4508500"/>
            <a:ext cx="4999037" cy="109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050" rIns="0" bIns="0" anchor="t" anchorCtr="0">
            <a:spAutoFit/>
          </a:bodyPr>
          <a:lstStyle/>
          <a:p>
            <a:pPr marL="12700" marR="0" lvl="0" indent="0" algn="ctr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Supervisor </a:t>
            </a:r>
            <a:endParaRPr dirty="0"/>
          </a:p>
          <a:p>
            <a:pPr marL="12700" marR="0" lvl="0" indent="0" algn="ctr" rtl="0">
              <a:lnSpc>
                <a:spcPct val="122000"/>
              </a:lnSpc>
              <a:spcBef>
                <a:spcPts val="10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Times New Roman"/>
              <a:buNone/>
            </a:pPr>
            <a:r>
              <a:rPr lang="en-US" sz="16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</a:t>
            </a:r>
            <a:r>
              <a:rPr lang="en-US" sz="1600" b="1" i="0" u="none" strike="noStrike" cap="non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Veeramani R</a:t>
            </a:r>
            <a:endParaRPr lang="en-US" sz="1600" b="1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ctr" rtl="0">
              <a:lnSpc>
                <a:spcPct val="122000"/>
              </a:lnSpc>
              <a:spcBef>
                <a:spcPts val="10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Times New Roman"/>
              <a:buNone/>
            </a:pPr>
            <a:r>
              <a:rPr lang="en-US" sz="16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Saveetha School of Engineering</a:t>
            </a:r>
            <a:endParaRPr dirty="0"/>
          </a:p>
        </p:txBody>
      </p:sp>
      <p:sp>
        <p:nvSpPr>
          <p:cNvPr id="49" name="Google Shape;49;p7"/>
          <p:cNvSpPr txBox="1"/>
          <p:nvPr/>
        </p:nvSpPr>
        <p:spPr>
          <a:xfrm>
            <a:off x="5029200" y="4406900"/>
            <a:ext cx="3446462" cy="2018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9050" rIns="0" bIns="0" anchor="t" anchorCtr="0">
            <a:spAutoFit/>
          </a:bodyPr>
          <a:lstStyle/>
          <a:p>
            <a:pPr marL="33337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</a:t>
            </a:r>
            <a:r>
              <a:rPr lang="en-US" sz="28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8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3337" marR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Times New Roman"/>
              <a:buNone/>
            </a:pPr>
            <a:r>
              <a:rPr lang="en-US" sz="16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Mugesh R(192524454)</a:t>
            </a:r>
          </a:p>
          <a:p>
            <a:pPr marL="33337" marR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Times New Roman"/>
              <a:buNone/>
            </a:pPr>
            <a:r>
              <a:rPr lang="en-US" sz="16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Pritham(192572014)</a:t>
            </a:r>
          </a:p>
          <a:p>
            <a:pPr marL="33337" marR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Times New Roman"/>
              <a:buNone/>
            </a:pPr>
            <a:r>
              <a:rPr lang="en-US" sz="1600" b="1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Vasanthanithi</a:t>
            </a:r>
            <a:r>
              <a:rPr lang="en-US" sz="16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 Y</a:t>
            </a:r>
            <a:r>
              <a:rPr lang="en-US" sz="16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(192424137)</a:t>
            </a:r>
          </a:p>
          <a:p>
            <a:pPr marL="33337" marR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Times New Roman"/>
              <a:buNone/>
            </a:pPr>
            <a:r>
              <a:rPr lang="en-US" sz="16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 AIDS and CSE</a:t>
            </a:r>
            <a:br>
              <a:rPr lang="en-US" sz="16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6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Saveetha School of Engineering</a:t>
            </a:r>
            <a:endParaRPr dirty="0"/>
          </a:p>
        </p:txBody>
      </p:sp>
      <p:sp>
        <p:nvSpPr>
          <p:cNvPr id="50" name="Google Shape;50;p7"/>
          <p:cNvSpPr txBox="1"/>
          <p:nvPr/>
        </p:nvSpPr>
        <p:spPr>
          <a:xfrm>
            <a:off x="8326437" y="6411912"/>
            <a:ext cx="115887" cy="23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pic>
        <p:nvPicPr>
          <p:cNvPr id="51" name="Google Shape;5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6312" y="442912"/>
            <a:ext cx="7239000" cy="111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2267713" y="788987"/>
            <a:ext cx="3976020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030287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sz="24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dirty="0"/>
          </a:p>
        </p:txBody>
      </p:sp>
      <p:sp>
        <p:nvSpPr>
          <p:cNvPr id="57" name="Google Shape;57;p8"/>
          <p:cNvSpPr txBox="1"/>
          <p:nvPr/>
        </p:nvSpPr>
        <p:spPr>
          <a:xfrm>
            <a:off x="8359775" y="6453187"/>
            <a:ext cx="825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8" name="Google Shape;58;p8"/>
          <p:cNvSpPr txBox="1"/>
          <p:nvPr/>
        </p:nvSpPr>
        <p:spPr>
          <a:xfrm>
            <a:off x="611187" y="3795712"/>
            <a:ext cx="7921625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" name="Google Shape;5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996DE7-5FA2-025E-EEEF-DA731D1EF30B}"/>
              </a:ext>
            </a:extLst>
          </p:cNvPr>
          <p:cNvSpPr txBox="1"/>
          <p:nvPr/>
        </p:nvSpPr>
        <p:spPr>
          <a:xfrm>
            <a:off x="121919" y="1791854"/>
            <a:ext cx="8900160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coding assistants have made programming faster and more accessible.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tools generate complete solutions instead of promoting learning.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Beginners often struggle with logical errors and programming concepts.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is designed to act as an intelligent programming mentor rather than a code generator.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focuses on improving logical thinking through guided explanations and hints.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>
          <a:extLst>
            <a:ext uri="{FF2B5EF4-FFF2-40B4-BE49-F238E27FC236}">
              <a16:creationId xmlns:a16="http://schemas.microsoft.com/office/drawing/2014/main" id="{351B6CD3-7CD3-F06A-6301-4F69CA095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>
            <a:extLst>
              <a:ext uri="{FF2B5EF4-FFF2-40B4-BE49-F238E27FC236}">
                <a16:creationId xmlns:a16="http://schemas.microsoft.com/office/drawing/2014/main" id="{FE92FE7A-83BA-10BC-8327-5DAF028434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67713" y="788987"/>
            <a:ext cx="3976020" cy="38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030287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dirty="0"/>
              <a:t>ABSTRACT</a:t>
            </a:r>
            <a:endParaRPr dirty="0"/>
          </a:p>
        </p:txBody>
      </p:sp>
      <p:sp>
        <p:nvSpPr>
          <p:cNvPr id="57" name="Google Shape;57;p8">
            <a:extLst>
              <a:ext uri="{FF2B5EF4-FFF2-40B4-BE49-F238E27FC236}">
                <a16:creationId xmlns:a16="http://schemas.microsoft.com/office/drawing/2014/main" id="{BBA80585-73B4-38DC-1678-6415592BC4E1}"/>
              </a:ext>
            </a:extLst>
          </p:cNvPr>
          <p:cNvSpPr txBox="1"/>
          <p:nvPr/>
        </p:nvSpPr>
        <p:spPr>
          <a:xfrm>
            <a:off x="8359775" y="6453187"/>
            <a:ext cx="825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8" name="Google Shape;58;p8">
            <a:extLst>
              <a:ext uri="{FF2B5EF4-FFF2-40B4-BE49-F238E27FC236}">
                <a16:creationId xmlns:a16="http://schemas.microsoft.com/office/drawing/2014/main" id="{919C2419-F7AB-A849-C9A6-72D765321E51}"/>
              </a:ext>
            </a:extLst>
          </p:cNvPr>
          <p:cNvSpPr txBox="1"/>
          <p:nvPr/>
        </p:nvSpPr>
        <p:spPr>
          <a:xfrm>
            <a:off x="611187" y="3795712"/>
            <a:ext cx="7921625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" name="Google Shape;59;p8">
            <a:extLst>
              <a:ext uri="{FF2B5EF4-FFF2-40B4-BE49-F238E27FC236}">
                <a16:creationId xmlns:a16="http://schemas.microsoft.com/office/drawing/2014/main" id="{CF625B96-835B-4B38-772A-73AC3CECDF4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8">
            <a:extLst>
              <a:ext uri="{FF2B5EF4-FFF2-40B4-BE49-F238E27FC236}">
                <a16:creationId xmlns:a16="http://schemas.microsoft.com/office/drawing/2014/main" id="{15F57BAC-D650-C2EC-DE27-EEC9200A663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C49D8A-E1EE-E83D-7C78-B618C3F5170F}"/>
              </a:ext>
            </a:extLst>
          </p:cNvPr>
          <p:cNvSpPr txBox="1"/>
          <p:nvPr/>
        </p:nvSpPr>
        <p:spPr>
          <a:xfrm>
            <a:off x="121919" y="1791854"/>
            <a:ext cx="8900160" cy="4190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user's code to identify logical and conceptual mistakes and understands the intended purpose of the code.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immediately providing the correct solution,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MentorAI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gives contextual explanations and progressive hints to help the student discover the solution independently.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floating desktop interface allows the mentor to assist users while they work across different coding environments and editors.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combines rule-based code analysis with the Gemini API to provide intelligent, personalized, and adaptive programming guidance.</a:t>
            </a:r>
          </a:p>
        </p:txBody>
      </p:sp>
    </p:spTree>
    <p:extLst>
      <p:ext uri="{BB962C8B-B14F-4D97-AF65-F5344CB8AC3E}">
        <p14:creationId xmlns:p14="http://schemas.microsoft.com/office/powerpoint/2010/main" val="2675988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1177925" y="778065"/>
            <a:ext cx="618490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050" rIns="0" bIns="0" anchor="t" anchorCtr="0">
            <a:spAutoFit/>
          </a:bodyPr>
          <a:lstStyle/>
          <a:p>
            <a:pPr marL="738187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sz="24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dirty="0"/>
          </a:p>
        </p:txBody>
      </p:sp>
      <p:pic>
        <p:nvPicPr>
          <p:cNvPr id="73" name="Google Shape;7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8BA492-7BA2-9538-0F37-9EEE361261E9}"/>
              </a:ext>
            </a:extLst>
          </p:cNvPr>
          <p:cNvSpPr txBox="1"/>
          <p:nvPr/>
        </p:nvSpPr>
        <p:spPr>
          <a:xfrm>
            <a:off x="463935" y="1794674"/>
            <a:ext cx="7978390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rely heavily on AI-generated code without understanding the logic. 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coding assistants prioritize productivity over education. 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mistakes are difficult for beginners to identify and correct. 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conceptual guidance reduces problem-solving ability. 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AI mentor that teaches instead of simply providing answers.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1179513" y="681831"/>
            <a:ext cx="6183312" cy="58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050" rIns="0" bIns="0" anchor="t" anchorCtr="0">
            <a:spAutoFit/>
          </a:bodyPr>
          <a:lstStyle/>
          <a:p>
            <a:pPr marL="738187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sz="24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dirty="0"/>
          </a:p>
        </p:txBody>
      </p:sp>
      <p:pic>
        <p:nvPicPr>
          <p:cNvPr id="66" name="Google Shape;6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55F66C-BC01-3A19-A154-1BAB900F8FE9}"/>
              </a:ext>
            </a:extLst>
          </p:cNvPr>
          <p:cNvSpPr txBox="1"/>
          <p:nvPr/>
        </p:nvSpPr>
        <p:spPr>
          <a:xfrm>
            <a:off x="235140" y="1904396"/>
            <a:ext cx="8673719" cy="234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AI-powered coding mentor for beginner programmers.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logical and conceptual errors in source code.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the purpose of programming constructs before suggesting fixes.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progressive hints instead of direct solutions.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programming skills through guided learning.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E1B3BA50-28C6-6CA4-F004-4CB9DEA38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>
            <a:extLst>
              <a:ext uri="{FF2B5EF4-FFF2-40B4-BE49-F238E27FC236}">
                <a16:creationId xmlns:a16="http://schemas.microsoft.com/office/drawing/2014/main" id="{10E3700B-E6B0-9647-F646-CD5D38CE81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513" y="681831"/>
            <a:ext cx="6183312" cy="58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050" rIns="0" bIns="0" anchor="t" anchorCtr="0">
            <a:spAutoFit/>
          </a:bodyPr>
          <a:lstStyle/>
          <a:p>
            <a:pPr marL="738187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sz="24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  <a:endParaRPr dirty="0"/>
          </a:p>
        </p:txBody>
      </p:sp>
      <p:pic>
        <p:nvPicPr>
          <p:cNvPr id="66" name="Google Shape;66;p9">
            <a:extLst>
              <a:ext uri="{FF2B5EF4-FFF2-40B4-BE49-F238E27FC236}">
                <a16:creationId xmlns:a16="http://schemas.microsoft.com/office/drawing/2014/main" id="{FBAA2762-4F55-D7F6-08E0-B9D7AE7C1C9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>
            <a:extLst>
              <a:ext uri="{FF2B5EF4-FFF2-40B4-BE49-F238E27FC236}">
                <a16:creationId xmlns:a16="http://schemas.microsoft.com/office/drawing/2014/main" id="{510C156E-7099-B688-B511-708DAC80718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DF4A89-5F9D-F0A7-6191-DA235B9088A6}"/>
              </a:ext>
            </a:extLst>
          </p:cNvPr>
          <p:cNvSpPr txBox="1"/>
          <p:nvPr/>
        </p:nvSpPr>
        <p:spPr>
          <a:xfrm>
            <a:off x="235140" y="1904396"/>
            <a:ext cx="8673719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AI coding assistants mainly focus on code generation, auto-completion, and debugging.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may depend on generated code without understanding the underlying programming logic.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IDEs mainly provide syntax errors and compiler feedback, with limited conceptual guidance.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limited focus on an AI system that understands the learner's intent and teaches through guided explanations.</a:t>
            </a:r>
          </a:p>
        </p:txBody>
      </p:sp>
    </p:spTree>
    <p:extLst>
      <p:ext uri="{BB962C8B-B14F-4D97-AF65-F5344CB8AC3E}">
        <p14:creationId xmlns:p14="http://schemas.microsoft.com/office/powerpoint/2010/main" val="4072094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960A8CE4-F583-DA7F-EDC3-559A561BD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>
            <a:extLst>
              <a:ext uri="{FF2B5EF4-FFF2-40B4-BE49-F238E27FC236}">
                <a16:creationId xmlns:a16="http://schemas.microsoft.com/office/drawing/2014/main" id="{E9319AC9-8F43-B785-42B8-0D6D2CDBF5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513" y="681831"/>
            <a:ext cx="6183312" cy="58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050" rIns="0" bIns="0" anchor="t" anchorCtr="0">
            <a:spAutoFit/>
          </a:bodyPr>
          <a:lstStyle/>
          <a:p>
            <a:pPr marL="738187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sz="24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 DRAWBACK</a:t>
            </a:r>
            <a:endParaRPr dirty="0"/>
          </a:p>
        </p:txBody>
      </p:sp>
      <p:pic>
        <p:nvPicPr>
          <p:cNvPr id="66" name="Google Shape;66;p9">
            <a:extLst>
              <a:ext uri="{FF2B5EF4-FFF2-40B4-BE49-F238E27FC236}">
                <a16:creationId xmlns:a16="http://schemas.microsoft.com/office/drawing/2014/main" id="{E86DB817-6D6A-BFC8-99BC-CFD2FA71D66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>
            <a:extLst>
              <a:ext uri="{FF2B5EF4-FFF2-40B4-BE49-F238E27FC236}">
                <a16:creationId xmlns:a16="http://schemas.microsoft.com/office/drawing/2014/main" id="{F58BEAE7-A48D-398F-1108-8B1634C9F47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41BBCE-0667-3DD5-477D-311DAAE6A41B}"/>
              </a:ext>
            </a:extLst>
          </p:cNvPr>
          <p:cNvSpPr txBox="1"/>
          <p:nvPr/>
        </p:nvSpPr>
        <p:spPr>
          <a:xfrm>
            <a:off x="235140" y="1904396"/>
            <a:ext cx="8673719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Over-dependence on AI: Students may rely on generated code instead of developing their own problem-solving skills.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Solutions: Most tools provide the answer or corrected code rather than guiding students toward it.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Conceptual Learning: They often focus on fixing errors without explaining the reasoning behind the mistake.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Personalization: Guidance is generally not adapted to the student's learning level or previous mistakes. </a:t>
            </a:r>
          </a:p>
          <a:p>
            <a:pPr lvl="0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575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5B33DB8D-3F55-C5FF-2339-B889FE459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>
            <a:extLst>
              <a:ext uri="{FF2B5EF4-FFF2-40B4-BE49-F238E27FC236}">
                <a16:creationId xmlns:a16="http://schemas.microsoft.com/office/drawing/2014/main" id="{3F4352D8-EDA2-E729-0599-26E24B7E4A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513" y="681831"/>
            <a:ext cx="6183312" cy="58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050" rIns="0" bIns="0" anchor="t" anchorCtr="0">
            <a:spAutoFit/>
          </a:bodyPr>
          <a:lstStyle/>
          <a:p>
            <a:pPr marL="738187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dirty="0"/>
              <a:t>PROPOSED</a:t>
            </a:r>
            <a:r>
              <a:rPr lang="en-US" sz="24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SYSTEM </a:t>
            </a:r>
            <a:endParaRPr dirty="0"/>
          </a:p>
        </p:txBody>
      </p:sp>
      <p:pic>
        <p:nvPicPr>
          <p:cNvPr id="66" name="Google Shape;66;p9">
            <a:extLst>
              <a:ext uri="{FF2B5EF4-FFF2-40B4-BE49-F238E27FC236}">
                <a16:creationId xmlns:a16="http://schemas.microsoft.com/office/drawing/2014/main" id="{061A96D6-7825-DDDF-66A7-31DD5B116C3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>
            <a:extLst>
              <a:ext uri="{FF2B5EF4-FFF2-40B4-BE49-F238E27FC236}">
                <a16:creationId xmlns:a16="http://schemas.microsoft.com/office/drawing/2014/main" id="{D9651CD2-132B-F2AB-7170-01D56B89C10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9FE3D6-CD64-1E17-B722-91BD5AF5B664}"/>
              </a:ext>
            </a:extLst>
          </p:cNvPr>
          <p:cNvSpPr txBox="1"/>
          <p:nvPr/>
        </p:nvSpPr>
        <p:spPr>
          <a:xfrm>
            <a:off x="235140" y="1904396"/>
            <a:ext cx="8673719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rule-based code analysis and Gemini AI to identify logical and conceptual mistakes.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contextual explanations that describe what the code is trying to achieve and where the reasoning goes wrong.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progressive hint system, guiding students from conceptual understanding to stronger hints instead of immediately revealing the solution.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learning history to adapt explanations and guidance according to the user's recurring mistakes and learning progress.</a:t>
            </a:r>
          </a:p>
        </p:txBody>
      </p:sp>
    </p:spTree>
    <p:extLst>
      <p:ext uri="{BB962C8B-B14F-4D97-AF65-F5344CB8AC3E}">
        <p14:creationId xmlns:p14="http://schemas.microsoft.com/office/powerpoint/2010/main" val="846349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6788F317-54CF-75D6-EB99-FF6061431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>
            <a:extLst>
              <a:ext uri="{FF2B5EF4-FFF2-40B4-BE49-F238E27FC236}">
                <a16:creationId xmlns:a16="http://schemas.microsoft.com/office/drawing/2014/main" id="{6EC1F6F8-5586-A210-DB62-BFE76F2DE9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513" y="681831"/>
            <a:ext cx="6183312" cy="58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050" rIns="0" bIns="0" anchor="t" anchorCtr="0">
            <a:spAutoFit/>
          </a:bodyPr>
          <a:lstStyle/>
          <a:p>
            <a:pPr marL="738187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dirty="0"/>
              <a:t>PROPOSED</a:t>
            </a:r>
            <a:r>
              <a:rPr lang="en-US" sz="24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SYSTEM FEATURES</a:t>
            </a:r>
            <a:endParaRPr dirty="0"/>
          </a:p>
        </p:txBody>
      </p:sp>
      <p:pic>
        <p:nvPicPr>
          <p:cNvPr id="66" name="Google Shape;66;p9">
            <a:extLst>
              <a:ext uri="{FF2B5EF4-FFF2-40B4-BE49-F238E27FC236}">
                <a16:creationId xmlns:a16="http://schemas.microsoft.com/office/drawing/2014/main" id="{4493277B-35A9-B8DD-922C-0D87ECF835E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>
            <a:extLst>
              <a:ext uri="{FF2B5EF4-FFF2-40B4-BE49-F238E27FC236}">
                <a16:creationId xmlns:a16="http://schemas.microsoft.com/office/drawing/2014/main" id="{7AC50EA0-5E4F-5335-4B35-28B2F068FC3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DBC209-033E-EE99-EF9C-5C20BE7B5B1F}"/>
              </a:ext>
            </a:extLst>
          </p:cNvPr>
          <p:cNvSpPr txBox="1"/>
          <p:nvPr/>
        </p:nvSpPr>
        <p:spPr>
          <a:xfrm>
            <a:off x="235140" y="1904396"/>
            <a:ext cx="8673719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Intelligent Code Analysis –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 to identify logical, conceptual, and common programming mistakes.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Intent-Based Explanation – Explains what the user's code is trying to achieve and how each section contributes to that goal.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Floating AI Mentor – Provides assistance through an always-accessible floating window while coding in different editors.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Adaptive Learning – Tracks recurring mistakes and adjusts the difficulty and style of explanations based on the user's learning progress.</a:t>
            </a:r>
          </a:p>
        </p:txBody>
      </p:sp>
    </p:spTree>
    <p:extLst>
      <p:ext uri="{BB962C8B-B14F-4D97-AF65-F5344CB8AC3E}">
        <p14:creationId xmlns:p14="http://schemas.microsoft.com/office/powerpoint/2010/main" val="1361688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31AC8638-985D-F7FF-AB7E-50ED6A809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>
            <a:extLst>
              <a:ext uri="{FF2B5EF4-FFF2-40B4-BE49-F238E27FC236}">
                <a16:creationId xmlns:a16="http://schemas.microsoft.com/office/drawing/2014/main" id="{46D063BF-4464-5DF7-C89E-A653F749C1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513" y="681831"/>
            <a:ext cx="6183312" cy="58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050" rIns="0" bIns="0" anchor="t" anchorCtr="0">
            <a:spAutoFit/>
          </a:bodyPr>
          <a:lstStyle/>
          <a:p>
            <a:pPr marL="738187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dirty="0"/>
              <a:t>LITERATURE REVIEW</a:t>
            </a:r>
            <a:endParaRPr dirty="0"/>
          </a:p>
        </p:txBody>
      </p:sp>
      <p:pic>
        <p:nvPicPr>
          <p:cNvPr id="66" name="Google Shape;66;p9">
            <a:extLst>
              <a:ext uri="{FF2B5EF4-FFF2-40B4-BE49-F238E27FC236}">
                <a16:creationId xmlns:a16="http://schemas.microsoft.com/office/drawing/2014/main" id="{CE047774-05F8-1B7F-B474-2DBABF9A216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>
            <a:extLst>
              <a:ext uri="{FF2B5EF4-FFF2-40B4-BE49-F238E27FC236}">
                <a16:creationId xmlns:a16="http://schemas.microsoft.com/office/drawing/2014/main" id="{99E824FC-36F3-9ADB-C728-1EEFE3B34EA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table">
            <a:extLst>
              <a:ext uri="{FF2B5EF4-FFF2-40B4-BE49-F238E27FC236}">
                <a16:creationId xmlns:a16="http://schemas.microsoft.com/office/drawing/2014/main" id="{A0F531B1-3717-DC24-CE6D-7252323A95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264" y="2281946"/>
            <a:ext cx="8393472" cy="3688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637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2C17CC5D-305F-0DD9-78E8-20183F8FE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>
            <a:extLst>
              <a:ext uri="{FF2B5EF4-FFF2-40B4-BE49-F238E27FC236}">
                <a16:creationId xmlns:a16="http://schemas.microsoft.com/office/drawing/2014/main" id="{441745E1-0178-F9E0-3E98-6F08A19115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513" y="681831"/>
            <a:ext cx="6183312" cy="58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050" rIns="0" bIns="0" anchor="t" anchorCtr="0">
            <a:spAutoFit/>
          </a:bodyPr>
          <a:lstStyle/>
          <a:p>
            <a:pPr marL="738187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dirty="0"/>
              <a:t>SYSTEM DESIGN</a:t>
            </a:r>
            <a:endParaRPr dirty="0"/>
          </a:p>
        </p:txBody>
      </p:sp>
      <p:pic>
        <p:nvPicPr>
          <p:cNvPr id="66" name="Google Shape;66;p9">
            <a:extLst>
              <a:ext uri="{FF2B5EF4-FFF2-40B4-BE49-F238E27FC236}">
                <a16:creationId xmlns:a16="http://schemas.microsoft.com/office/drawing/2014/main" id="{7963A86C-972F-DA9A-021A-46605966227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>
            <a:extLst>
              <a:ext uri="{FF2B5EF4-FFF2-40B4-BE49-F238E27FC236}">
                <a16:creationId xmlns:a16="http://schemas.microsoft.com/office/drawing/2014/main" id="{21815317-9CCC-595D-B1BB-7AD73190F66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B53A3C-65C6-80B3-0D21-7C3A2B2802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198" y="1881972"/>
            <a:ext cx="7011604" cy="467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899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E821B68E-FA5C-ACDF-4E75-C39AD1DFE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>
            <a:extLst>
              <a:ext uri="{FF2B5EF4-FFF2-40B4-BE49-F238E27FC236}">
                <a16:creationId xmlns:a16="http://schemas.microsoft.com/office/drawing/2014/main" id="{5AF914D9-AC7D-27B3-F29E-9F132726DE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513" y="681831"/>
            <a:ext cx="6183312" cy="58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050" rIns="0" bIns="0" anchor="t" anchorCtr="0">
            <a:spAutoFit/>
          </a:bodyPr>
          <a:lstStyle/>
          <a:p>
            <a:pPr marL="738187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dirty="0"/>
              <a:t>TECHNOLOGIES</a:t>
            </a:r>
            <a:endParaRPr dirty="0"/>
          </a:p>
        </p:txBody>
      </p:sp>
      <p:pic>
        <p:nvPicPr>
          <p:cNvPr id="66" name="Google Shape;66;p9">
            <a:extLst>
              <a:ext uri="{FF2B5EF4-FFF2-40B4-BE49-F238E27FC236}">
                <a16:creationId xmlns:a16="http://schemas.microsoft.com/office/drawing/2014/main" id="{9DBAEC7E-F05A-2850-5971-179B028B6D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>
            <a:extLst>
              <a:ext uri="{FF2B5EF4-FFF2-40B4-BE49-F238E27FC236}">
                <a16:creationId xmlns:a16="http://schemas.microsoft.com/office/drawing/2014/main" id="{9DE3F23C-D5EB-6F03-7398-A89324F42D0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table">
            <a:extLst>
              <a:ext uri="{FF2B5EF4-FFF2-40B4-BE49-F238E27FC236}">
                <a16:creationId xmlns:a16="http://schemas.microsoft.com/office/drawing/2014/main" id="{97D6FF31-7374-C031-BF1C-DD4C8CEEBA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727" y="2309648"/>
            <a:ext cx="8300545" cy="3405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320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1E5CB52E-8D5F-5C29-AF12-7191C8A1B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>
            <a:extLst>
              <a:ext uri="{FF2B5EF4-FFF2-40B4-BE49-F238E27FC236}">
                <a16:creationId xmlns:a16="http://schemas.microsoft.com/office/drawing/2014/main" id="{E1DDC30E-FBD1-E060-073F-BF4884FB81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513" y="681831"/>
            <a:ext cx="6183312" cy="952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050" rIns="0" bIns="0" anchor="t" anchorCtr="0">
            <a:spAutoFit/>
          </a:bodyPr>
          <a:lstStyle/>
          <a:p>
            <a:pPr marL="738187" lvl="0">
              <a:buClr>
                <a:srgbClr val="C00000"/>
              </a:buClr>
              <a:buSzPts val="2400"/>
            </a:pPr>
            <a:r>
              <a:rPr lang="en-US" dirty="0"/>
              <a:t>MODULE 1: </a:t>
            </a:r>
            <a:r>
              <a:rPr lang="en-IN" dirty="0"/>
              <a:t>Code Understanding &amp; Intent Mapping</a:t>
            </a:r>
            <a:endParaRPr dirty="0"/>
          </a:p>
        </p:txBody>
      </p:sp>
      <p:pic>
        <p:nvPicPr>
          <p:cNvPr id="66" name="Google Shape;66;p9">
            <a:extLst>
              <a:ext uri="{FF2B5EF4-FFF2-40B4-BE49-F238E27FC236}">
                <a16:creationId xmlns:a16="http://schemas.microsoft.com/office/drawing/2014/main" id="{1145421C-F50F-B7EF-B050-4D35C7EB6AF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>
            <a:extLst>
              <a:ext uri="{FF2B5EF4-FFF2-40B4-BE49-F238E27FC236}">
                <a16:creationId xmlns:a16="http://schemas.microsoft.com/office/drawing/2014/main" id="{55B4565C-69ED-9BB4-879B-6923296C6F4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15B637-FD6E-CC43-FB1A-B3FE2218468E}"/>
              </a:ext>
            </a:extLst>
          </p:cNvPr>
          <p:cNvSpPr txBox="1"/>
          <p:nvPr/>
        </p:nvSpPr>
        <p:spPr>
          <a:xfrm>
            <a:off x="250825" y="2025667"/>
            <a:ext cx="8673719" cy="2806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the user's source code and identifies its overall purpose.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Understands what individual loops, conditions, functions, and operations are intended to accomplish.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a representation of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behaviour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program.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the intended behaviour with the actual implementation.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the context required for deeper AI analysis.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538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D1A0B491-2A89-4B14-0AB9-9868A5752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>
            <a:extLst>
              <a:ext uri="{FF2B5EF4-FFF2-40B4-BE49-F238E27FC236}">
                <a16:creationId xmlns:a16="http://schemas.microsoft.com/office/drawing/2014/main" id="{CB78B1BA-A282-7BAA-807B-1708F32186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513" y="681831"/>
            <a:ext cx="6183312" cy="952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050" rIns="0" bIns="0" anchor="t" anchorCtr="0">
            <a:spAutoFit/>
          </a:bodyPr>
          <a:lstStyle/>
          <a:p>
            <a:pPr marL="738187" lvl="0">
              <a:buClr>
                <a:srgbClr val="C00000"/>
              </a:buClr>
              <a:buSzPts val="2400"/>
            </a:pPr>
            <a:r>
              <a:rPr lang="en-IN" dirty="0"/>
              <a:t>MODULE 2:  Logic Diagnosis &amp; Intelligent Guidance</a:t>
            </a:r>
            <a:endParaRPr dirty="0"/>
          </a:p>
        </p:txBody>
      </p:sp>
      <p:pic>
        <p:nvPicPr>
          <p:cNvPr id="66" name="Google Shape;66;p9">
            <a:extLst>
              <a:ext uri="{FF2B5EF4-FFF2-40B4-BE49-F238E27FC236}">
                <a16:creationId xmlns:a16="http://schemas.microsoft.com/office/drawing/2014/main" id="{ED5BB300-6966-E4A7-DDC6-516DB8B32E0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>
            <a:extLst>
              <a:ext uri="{FF2B5EF4-FFF2-40B4-BE49-F238E27FC236}">
                <a16:creationId xmlns:a16="http://schemas.microsoft.com/office/drawing/2014/main" id="{35829575-464D-FFD3-7605-7185CF03292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AEB986-55B3-E5A8-8DA9-4BBDD8FC488E}"/>
              </a:ext>
            </a:extLst>
          </p:cNvPr>
          <p:cNvSpPr txBox="1"/>
          <p:nvPr/>
        </p:nvSpPr>
        <p:spPr>
          <a:xfrm>
            <a:off x="285340" y="2024856"/>
            <a:ext cx="8673719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logical mistakes and identifies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 behind the incorrect behaviour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program flow and code context to determine where the user's reasoning went wrong.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Explains the code's intended operation before explaining the mistake.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progressive hints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instead of immediately providing corrected code.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Gemini AI to turn technical analysis into clear, learner-friendly explanations.</a:t>
            </a:r>
          </a:p>
        </p:txBody>
      </p:sp>
    </p:spTree>
    <p:extLst>
      <p:ext uri="{BB962C8B-B14F-4D97-AF65-F5344CB8AC3E}">
        <p14:creationId xmlns:p14="http://schemas.microsoft.com/office/powerpoint/2010/main" val="2598127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1F656602-B6D4-6D2D-0AD6-EAE8458B2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>
            <a:extLst>
              <a:ext uri="{FF2B5EF4-FFF2-40B4-BE49-F238E27FC236}">
                <a16:creationId xmlns:a16="http://schemas.microsoft.com/office/drawing/2014/main" id="{669FBFB4-873A-3697-875F-7AA91411AA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513" y="681831"/>
            <a:ext cx="6183312" cy="952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050" rIns="0" bIns="0" anchor="t" anchorCtr="0">
            <a:spAutoFit/>
          </a:bodyPr>
          <a:lstStyle/>
          <a:p>
            <a:pPr marL="738187" lvl="0">
              <a:buClr>
                <a:srgbClr val="C00000"/>
              </a:buClr>
              <a:buSzPts val="2400"/>
            </a:pPr>
            <a:r>
              <a:rPr lang="en-US" dirty="0"/>
              <a:t>MODULE 3: </a:t>
            </a:r>
            <a:r>
              <a:rPr lang="en-IN" dirty="0"/>
              <a:t>Adaptive Mentoring &amp; Interactive Assistance</a:t>
            </a:r>
            <a:endParaRPr dirty="0"/>
          </a:p>
        </p:txBody>
      </p:sp>
      <p:pic>
        <p:nvPicPr>
          <p:cNvPr id="66" name="Google Shape;66;p9">
            <a:extLst>
              <a:ext uri="{FF2B5EF4-FFF2-40B4-BE49-F238E27FC236}">
                <a16:creationId xmlns:a16="http://schemas.microsoft.com/office/drawing/2014/main" id="{06860462-332A-2C09-C5A9-39FC416220A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>
            <a:extLst>
              <a:ext uri="{FF2B5EF4-FFF2-40B4-BE49-F238E27FC236}">
                <a16:creationId xmlns:a16="http://schemas.microsoft.com/office/drawing/2014/main" id="{41ECBC23-E43B-BFC1-4F32-4A33018DFFF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EC935D-222F-EA83-61F4-EE2068F735C1}"/>
              </a:ext>
            </a:extLst>
          </p:cNvPr>
          <p:cNvSpPr txBox="1"/>
          <p:nvPr/>
        </p:nvSpPr>
        <p:spPr>
          <a:xfrm>
            <a:off x="285340" y="2024856"/>
            <a:ext cx="8673719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the user's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history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including recurring mistakes and concepts that require improvement.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Adjusts explanation depth and hint difficulty based on the user's progress.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the mentor through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floating desktop interface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the user codes.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request further explanation, stronger hints, or eventually a solution.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learning patterns to provide increasingly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programming guidance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485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036178A6-3E76-CD2F-EB53-17C006384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>
            <a:extLst>
              <a:ext uri="{FF2B5EF4-FFF2-40B4-BE49-F238E27FC236}">
                <a16:creationId xmlns:a16="http://schemas.microsoft.com/office/drawing/2014/main" id="{FA2627AA-6BDD-BA27-E36C-F2F0DE351F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513" y="681831"/>
            <a:ext cx="6183312" cy="58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050" rIns="0" bIns="0" anchor="t" anchorCtr="0">
            <a:spAutoFit/>
          </a:bodyPr>
          <a:lstStyle/>
          <a:p>
            <a:pPr marL="738187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dirty="0"/>
              <a:t>METHODOLOGY</a:t>
            </a:r>
            <a:endParaRPr dirty="0"/>
          </a:p>
        </p:txBody>
      </p:sp>
      <p:pic>
        <p:nvPicPr>
          <p:cNvPr id="66" name="Google Shape;66;p9">
            <a:extLst>
              <a:ext uri="{FF2B5EF4-FFF2-40B4-BE49-F238E27FC236}">
                <a16:creationId xmlns:a16="http://schemas.microsoft.com/office/drawing/2014/main" id="{A07CEC87-580C-B6A3-C296-F37DF44E83F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>
            <a:extLst>
              <a:ext uri="{FF2B5EF4-FFF2-40B4-BE49-F238E27FC236}">
                <a16:creationId xmlns:a16="http://schemas.microsoft.com/office/drawing/2014/main" id="{8E12995A-3529-9066-8CB7-6166E695A94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1B086D-AFD8-C3CD-A8B6-754B977081AD}"/>
              </a:ext>
            </a:extLst>
          </p:cNvPr>
          <p:cNvSpPr txBox="1"/>
          <p:nvPr/>
        </p:nvSpPr>
        <p:spPr>
          <a:xfrm>
            <a:off x="285340" y="2024856"/>
            <a:ext cx="8673719" cy="2806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writes code in any supported code editor.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selected code is analysed using rule-based techniques and AI.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identifies the programmer's intent and detects logical issues.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AI generates conceptual explanations and guided hints.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learns, modifies the code, and requests further guidance only if needed.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3691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15E8A5AA-C1E9-2E2A-985F-30C6CAE28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>
            <a:extLst>
              <a:ext uri="{FF2B5EF4-FFF2-40B4-BE49-F238E27FC236}">
                <a16:creationId xmlns:a16="http://schemas.microsoft.com/office/drawing/2014/main" id="{E96FFE08-D8B2-4CFE-FBF7-E68519CE85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513" y="681831"/>
            <a:ext cx="6183312" cy="583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050" rIns="0" bIns="0" anchor="t" anchorCtr="0">
            <a:spAutoFit/>
          </a:bodyPr>
          <a:lstStyle/>
          <a:p>
            <a:pPr marL="738187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dirty="0"/>
              <a:t>CONCLUSION AND FUTURE SCOPE</a:t>
            </a:r>
            <a:endParaRPr dirty="0"/>
          </a:p>
        </p:txBody>
      </p:sp>
      <p:pic>
        <p:nvPicPr>
          <p:cNvPr id="66" name="Google Shape;66;p9">
            <a:extLst>
              <a:ext uri="{FF2B5EF4-FFF2-40B4-BE49-F238E27FC236}">
                <a16:creationId xmlns:a16="http://schemas.microsoft.com/office/drawing/2014/main" id="{E711E45C-74EF-4D05-B931-7DE96A47314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>
            <a:extLst>
              <a:ext uri="{FF2B5EF4-FFF2-40B4-BE49-F238E27FC236}">
                <a16:creationId xmlns:a16="http://schemas.microsoft.com/office/drawing/2014/main" id="{8F3B5023-640D-1D3E-3430-4AEB7433C5F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CB1080-62D4-B6D1-0184-BECE481B01CF}"/>
              </a:ext>
            </a:extLst>
          </p:cNvPr>
          <p:cNvSpPr txBox="1"/>
          <p:nvPr/>
        </p:nvSpPr>
        <p:spPr>
          <a:xfrm>
            <a:off x="250825" y="2024856"/>
            <a:ext cx="7750277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MentorAI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AI-powered programming mentor that focuses on understanding and guided learning.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logical mistakes and explains the intended behaviour and reasoning behind the user's code.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Progressive hints help students develop independent problem-solving and programming skills.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development can include multiple programming languages, IDE extensions, voice-based mentoring, and personalized learning analytics.</a:t>
            </a:r>
          </a:p>
        </p:txBody>
      </p:sp>
    </p:spTree>
    <p:extLst>
      <p:ext uri="{BB962C8B-B14F-4D97-AF65-F5344CB8AC3E}">
        <p14:creationId xmlns:p14="http://schemas.microsoft.com/office/powerpoint/2010/main" val="18402728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B3E5F9D4-55A0-D262-73CF-35087982C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>
            <a:extLst>
              <a:ext uri="{FF2B5EF4-FFF2-40B4-BE49-F238E27FC236}">
                <a16:creationId xmlns:a16="http://schemas.microsoft.com/office/drawing/2014/main" id="{0C243659-FD3A-55C0-D09E-13C2F51EA0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513" y="681831"/>
            <a:ext cx="6183312" cy="583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2050" rIns="0" bIns="0" anchor="t" anchorCtr="0">
            <a:spAutoFit/>
          </a:bodyPr>
          <a:lstStyle/>
          <a:p>
            <a:pPr marL="738187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US" dirty="0"/>
              <a:t>REFERENCES</a:t>
            </a:r>
            <a:endParaRPr dirty="0"/>
          </a:p>
        </p:txBody>
      </p:sp>
      <p:pic>
        <p:nvPicPr>
          <p:cNvPr id="66" name="Google Shape;66;p9">
            <a:extLst>
              <a:ext uri="{FF2B5EF4-FFF2-40B4-BE49-F238E27FC236}">
                <a16:creationId xmlns:a16="http://schemas.microsoft.com/office/drawing/2014/main" id="{66D5D2C6-FF39-ACF8-0C25-C0E918AF58A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9">
            <a:extLst>
              <a:ext uri="{FF2B5EF4-FFF2-40B4-BE49-F238E27FC236}">
                <a16:creationId xmlns:a16="http://schemas.microsoft.com/office/drawing/2014/main" id="{87FA088E-C7B7-3DE6-7755-069A7075847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636E19-DDE5-02EE-C187-5B846EBE5C21}"/>
              </a:ext>
            </a:extLst>
          </p:cNvPr>
          <p:cNvSpPr txBox="1"/>
          <p:nvPr/>
        </p:nvSpPr>
        <p:spPr>
          <a:xfrm>
            <a:off x="396030" y="2182511"/>
            <a:ext cx="775027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Russell, S. J., &amp; Norvig, P. —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Intelligence: A Modern Approach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3rd Edition, Pearson Education.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Alpaydın, E. —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Machine Learning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4th Edition, MIT Press, 2020.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Kazemitabaar, M. et al. —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Studying the Effect of AI Code Generators on Programming Education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Reigning in GPT-4 to Tutor Java Programming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Rojas-Galeano, S. et al. —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Tool and Trouble: Student Experiences with AI Coding Assistants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Ma, Q. et al. —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Scaffolding Metacognition in Programming Education with AI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—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API Documentation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7157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>
            <a:spLocks noGrp="1"/>
          </p:cNvSpPr>
          <p:nvPr>
            <p:ph type="title"/>
          </p:nvPr>
        </p:nvSpPr>
        <p:spPr>
          <a:xfrm>
            <a:off x="3367087" y="3106737"/>
            <a:ext cx="2181225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Times New Roman"/>
              <a:buNone/>
            </a:pPr>
            <a:r>
              <a:rPr lang="en-US" sz="36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dirty="0"/>
          </a:p>
        </p:txBody>
      </p:sp>
      <p:pic>
        <p:nvPicPr>
          <p:cNvPr id="169" name="Google Shape;16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2825" y="301625"/>
            <a:ext cx="10795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825" y="301625"/>
            <a:ext cx="1362075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1056</Words>
  <Application>Microsoft Office PowerPoint</Application>
  <PresentationFormat>On-screen Show (4:3)</PresentationFormat>
  <Paragraphs>96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 An Intelligent AI Coding Mentor for Guided Programming Learning  CAPSTONE PROJECT  CSA1707-Artificial Intelligence</vt:lpstr>
      <vt:lpstr>INTRODUCTION</vt:lpstr>
      <vt:lpstr>ABSTRACT</vt:lpstr>
      <vt:lpstr>PROBLEM STATEMENT</vt:lpstr>
      <vt:lpstr>OBJECTIVE</vt:lpstr>
      <vt:lpstr>EXISTING SYSTEM</vt:lpstr>
      <vt:lpstr>EXISTING SYSTEM DRAWBACK</vt:lpstr>
      <vt:lpstr>PROPOSED SYSTEM </vt:lpstr>
      <vt:lpstr>PROPOSED SYSTEM FEATURES</vt:lpstr>
      <vt:lpstr>LITERATURE REVIEW</vt:lpstr>
      <vt:lpstr>SYSTEM DESIGN</vt:lpstr>
      <vt:lpstr>TECHNOLOGIES</vt:lpstr>
      <vt:lpstr>MODULE 1: Code Understanding &amp; Intent Mapping</vt:lpstr>
      <vt:lpstr>MODULE 2:  Logic Diagnosis &amp; Intelligent Guidance</vt:lpstr>
      <vt:lpstr>MODULE 3: Adaptive Mentoring &amp; Interactive Assistance</vt:lpstr>
      <vt:lpstr>METHODOLOGY</vt:lpstr>
      <vt:lpstr>CONCLUSION AND FUTURE SCOPE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VASANTH</dc:creator>
  <cp:lastModifiedBy>VASANTH D Y</cp:lastModifiedBy>
  <cp:revision>16</cp:revision>
  <dcterms:modified xsi:type="dcterms:W3CDTF">2026-08-14T04:19:23Z</dcterms:modified>
</cp:coreProperties>
</file>